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10972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825496" y="10972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25496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GP01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489704" y="10972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19472" y="10972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9472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R101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TAGs STW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planilha de codificação, comparação com normas internacionais (ISA-5.1 / IEC 81346) e regras de criação de TAGs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TAGstw.xlsx — Tabela2 (Equipamentos) e Tabela1 (Atributos)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planilha define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níveis de identificação montados por concatenação de siglas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siglas de equipamento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Tabela2 — 2 letras cada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de atributo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funções × estados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planta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A, B, C, 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TAG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 → Atributo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45720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de formação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Tabela2 (B7:H97)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Coluna1 + Coluna2 = SIGLA via =CONCAT()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AL, BB, EL, GP, TC 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Tabela1 (J7:P61)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Coluna1 + Coluna2 + Função = SIGLA via =CONCATENATE()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SNA, SPF, EVA, BTE 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V:AF (área livre)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SIGLA + SEQUENCIAL - ÁREA + LINHA + 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EL01-R101, SPA1-GP01-R101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do TAG de equipamento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da planilha: EL01-R101 — Elevador nº 01, área Recebimento, linha 1, grupo 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272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letras (Tabela2)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= Elevador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07208" y="192024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07208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670048" y="31272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dígitos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01…99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17136" y="19202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084064" y="192024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84064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946904" y="31272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letra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A, B, C, 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93992" y="192024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93992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31272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dígito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1…9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192024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1920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12724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dígitos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01…99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3434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 QUÊ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74336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ONDE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50292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5029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</a:t>
            </a:r>
            <a:pPr algn="ctr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200400" y="50292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0" y="5029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</a:t>
            </a:r>
            <a:pPr algn="ctr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A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303520" y="50292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5029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</a:t>
            </a:r>
            <a:pPr algn="ctr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B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06640" y="50292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5029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</a:t>
            </a:r>
            <a:pPr algn="ctr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C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509760" y="50292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09760" y="5029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</a:t>
            </a:r>
            <a:pPr algn="ctr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D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do TAG de atributo (sinal)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SPA1-GP01-R101 — Sensor de Posição “Aberto” nº 1 da Gaveta Pneumática 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272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Sensor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21408" y="192024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21408" y="19202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984248" y="31272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Posição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9856" y="192024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9856" y="19202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282696" y="31272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FUNÇÃO/ESTADO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Aberto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18304" y="192024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18304" y="19202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1272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dígito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16752" y="192024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6537960" y="19202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920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GP01-R101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272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DO EQUIPAMENTO “PAI”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 sigla + localização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48056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480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SPA1 / SPF1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posição Aberto / Fechado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448056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4480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EVA1 / EVF1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Eletroválvula: comando Abre / Fecha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525780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 · SNM · SNB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nível Alto / Médio / Baixo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525780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BTE · BTR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Emergência / Reset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passo a passo: da área ao sinal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da planilha (colunas V:AA) — duas gavetas pneumáticas na linha R101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611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 · Linha 1 · Grupo 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3977640"/>
            <a:ext cx="822960" cy="-914400"/>
          </a:xfrm>
          <a:prstGeom prst="line">
            <a:avLst/>
          </a:prstGeom>
          <a:noFill/>
          <a:ln w="25400">
            <a:solidFill>
              <a:srgbClr val="D5DB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2697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GP01-R101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0" y="3063240"/>
            <a:ext cx="731520" cy="-73152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14884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SPA1-GP01-R101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posição aberto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3063240"/>
            <a:ext cx="731520" cy="-292608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587752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587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SPF1-GP01-R101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587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posição fechado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3063240"/>
            <a:ext cx="731520" cy="146304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026664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026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EVA1-GP01-R101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026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eletroválvula abre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3063240"/>
            <a:ext cx="731520" cy="585216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465576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4655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EVF1-GP01-R101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465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eletroválvula fecha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0" y="3977640"/>
            <a:ext cx="822960" cy="1005840"/>
          </a:xfrm>
          <a:prstGeom prst="line">
            <a:avLst/>
          </a:prstGeom>
          <a:noFill/>
          <a:ln w="25400">
            <a:solidFill>
              <a:srgbClr val="D5DB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4617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08960" y="4617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GP02-R101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0" y="4983480"/>
            <a:ext cx="731520" cy="-73152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06908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SPA1-GP02-R101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posição aberto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4983480"/>
            <a:ext cx="731520" cy="-292608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4507992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4507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SPF1-GP02-R101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4507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posição fechado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4983480"/>
            <a:ext cx="731520" cy="146304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4946904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0" y="4946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EVA1-GP02-R101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281160" y="49469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eletroválvula abre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0" y="4983480"/>
            <a:ext cx="731520" cy="585216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385816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0" y="53858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EVF1-GP02-R101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5385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eletroválvula fecha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Localização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31089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Equipamento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21792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Atributos / sinais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exemplos da planilha: EL01-R101 (Elevador), TC01-R101 (Transportador de corrente)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internacionais de referência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uma padroniza e onde se aplica ao padrão STW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ISA-5.1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ANSI/ISA-5.1-2022 · no Brasil ABNT NBR 8190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Instrumentação: letras de identificação (variável medida + função) e número de malha. Ex.: LSH-101, ZSO-205, PT-310.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aos ATRIBUTOS (sensores, botões, válvulas).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81346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81346-1 (princípios) · IEC 81346-2:2019 (classes)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Designação de referência hierárquica com aspectos: “=” função, “-” produto, “+” localização. Classes por letra (B sensor, M motor, Q válvula…).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à HIERARQUIA área → equipamento → componente.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14224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14224:2016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 de ativos para manutenção e confiabilidade: níveis instalação → planta → sistema → equipamento → componente.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ao cadastro em CMMS / plano de manutenção.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KKS / RDS-PP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VGB (energia) — RDS-PP baseado na IEC 81346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937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codificação de planta com níveis fixos e códigos alfanuméricos padronizados por posição.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de estrutura posicional rígida, como a STW.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estrutural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STW × ISA-5.1 × IEC 81346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108960"/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STW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ISA-5.1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IEC 81346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das letras (instrumento)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→ variável → estado (S-N-A)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 → função → modificador (L-S-H)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→ subclasse (B-L)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 da 1ª letra “S”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“Sensor” (genérico)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“Speed” — velocidade/frequência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“S” = ação manual → sinal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no TAG (Aberto, Alto…)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letra de 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modificadores H, L, M, O,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— vai no texto/atributo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Localização no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ÁREA+LINHA+GRUPO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 — prefixo de área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aspecto “+”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Hierarquia pai → filho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atributo herda TAG do pai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— malha independente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níveis encadeados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dígitos equip. / 1 dígito sinal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malha comum a todos os instrumentos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Livre por nível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“-” entre blocos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“-” entre letras e número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Prefixos = - + e “.”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ESTRUTURA hierárquica da STW está alinhada à IEC 81346; o VOCABULÁRIO de letras dos sinais diverge da ISA-5.1.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Equivalência dos atributos com a ISA-5.1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 STW (Tabela1) → identificação ISA recomendada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40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0312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ISA-5.1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SNA / SNM / SNB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 Alto / Médio / Baixo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LSH / LSM / LSL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 variável (analógico)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 / SPF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Posição Aberto / Fechado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ZSO / ZSC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SPS / SPI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Posição Superior / Inferior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ZSH / ZSL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 / STB / STV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Alta / Baixa / 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TSH / TSL / TT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SRA / SRB / SRV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Pressão Alta / Baixa / 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PSH / PSL / PT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SFV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variável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45920"/>
          <a:ext cx="5440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0312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ISA-5.1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de movimento (rotação)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SSL (chave de velocidade)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Embuchamento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LSHH (chute entupido)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SDA / SDV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Desalinhamento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ZS / ZT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de partículas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 / EVF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Eletroválvula abre / fecha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XV (válvula) + XY (solenoide)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BTE · BTR · BTL/BTD · BTM/BTU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Botões emergência, reset, liga/desliga, man./auto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HS (+ ESD p/ emergência)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SSF · TSF/TSD · TVF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/ trava de segurança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6F9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ZSC (intertravamento)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 (motor), ALP (alimentação de potência) e CLL (chave LOTO) são elétricos — ficam fora da ISA-5.1; usar classes IEC 81346 (MA, QA/QB).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Siglas de equipamento × classes IEC 81346-2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IEC classifica pela FUNÇÃO do objeto; a STW, pelo nome — as duas podem conviver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" cy="47548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Sensoriamento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69164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SN, SP, ST, SR, SF, SM, SE, SD, SA, 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475488" cy="47548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95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951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29514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silo, TQ tanque, MG moega, PU pulmão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475488" cy="47548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986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térmica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8986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queimador, RS resistência, RF resfriador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475488" cy="47548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5021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fluxo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50215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BB/BC/BH/BP/BV bombas, EX exaustor, SO soprador, VT ventilador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475488" cy="47548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05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1056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10565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elétricos (atributo MTE)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475488" cy="47548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7091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47091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VB, VF, VM, VP, VE, VL válvulas · CP comporta · GM/GP gavetas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12664"/>
            <a:ext cx="475488" cy="47548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312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531266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manual → sinal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531266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botoeira/botões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169164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58200" y="1874520"/>
            <a:ext cx="2926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Transportadores, moinhos, misturadores, peneiras, filtros e robôs caem em classes de processamento/transporte (H, T, U, V, W, conforme a função).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as subclasses de duas letras na edição vigente da IEC 81346-2 antes de adotá-las.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de atenção encontrados na planilha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 das 85 siglas de equipamento e 39 atributos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739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459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 duplicada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45920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= Transportador de Corrente e também Trocador de Calor (linha 39, com espaço: “C ”). TAG ambíguo em campo.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3230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4323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30428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sigla, sentidos diferentes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0428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= Misturador (equip.) × Motor (atributo); AL = Alimentador × Alimentação.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9067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090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9626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Colisão com letras ISA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962656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TT, FT, PS, TS, TC, TR, SC, ST, SE, PV, VT, VE já significam instrumentos na ISA (ex.: TT = transmissor de temperatura).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4904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490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6210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na lista de equipamentos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62102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81–91 (SS, ST, SN, SP, CL…) repetem funções da Tabela1 — mistura dois níveis.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40740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407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42793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função inconsistente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279392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= “TRAVA SEGURANÇA” e “TRAVA DE SEGURANÇA”; TV = “TRAVA ” sem complemento.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06577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065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737360" y="49377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Digitação / espaços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937760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INFERIROR, BAMBA DE VÁCUO, DISTIBUIDOR; espaços extras em ESPELHADOR, SENSOR MOVIMENTO, “C ”.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59612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72414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7241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55961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559612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com 1 dígito (máx. 9) e índice de sinal com 1 dígito (máx. 9 por função).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TAG harmonizado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lógica STW (localização + equipamento + sinal) com vocabulário ISA nos sinais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GP01-R101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176272"/>
            <a:ext cx="365760" cy="219456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05740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GP01-R101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 — sem mudança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609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SPA1-GP01-R101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2779776"/>
            <a:ext cx="365760" cy="219456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66090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6609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ZSO1-GP01-R101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6609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aberta → ZSO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6440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264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SPF1-GP01-R101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77640" y="3383280"/>
            <a:ext cx="365760" cy="219456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26440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3264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ZSC1-GP01-R101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264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fechada → ZSC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6791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867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EVA1-GP01-R101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77640" y="3986784"/>
            <a:ext cx="365760" cy="219456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86791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3867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XY1-GP01-R101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3867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Solenoide da válvula → XY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471416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471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SNA1-SL01-A201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977640" y="4590288"/>
            <a:ext cx="365760" cy="219456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4471416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4471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LSH1-SL01-A201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4714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alto no silo → LSH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TC01-R101 (Trocador)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77640" y="5193792"/>
            <a:ext cx="365760" cy="219456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50749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8056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TK01-R101 *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955280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duplicidade TC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Sigla sugerida, ainda livre na Tabela2. SL01-A201 é exemplo ilustrativo.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para a planilha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práticas, em ordem de prioridade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ambiguidades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69164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sigla para Trocador de Calor; separar MT/AL entre equipamento e atributo; usar ARRUMAR() nas colunas de sigla.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6032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unicidade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56032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de checagem =CONT.SE(Tabela2[SIGLA];[@SIGLA])&gt;1 com formatação condicional em vermelho.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níveis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42900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sensores/botões da Tabela2: equipamentos só na Tabela2, instrumentos só na Tabela1.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976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letras ISA-5.1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29768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hierarquia STW, mas trocar o código do sinal (SNA → LSH, SPA → ZSO…) — facilita leitura por integradores e P&amp;ID.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6636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 regra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516636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“Regras” com a máscara  AA00-A000  /  AAA0-AA00-A000, lista de áreas e exemplos, e dicionário IEC 81346 de referência.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920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Hierárquica e posicional — compatível com IEC 81346 e ISO 14224.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de sinais próprias — divergem da ISA-5.1; mapear ou migrar.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sigla duplicada, 2 conflitos de sentido, 12 colisões com ISA, erros de digitação.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937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937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a Tabela2, adicionar validações e publicar a folha de regras.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Padrão de TAGs STW</dc:title>
  <dc:subject>PptxGenJS Presentation</dc:subject>
  <dc:creator>PptxGenJS</dc:creator>
  <cp:lastModifiedBy>PptxGenJS</cp:lastModifiedBy>
  <cp:revision>1</cp:revision>
  <dcterms:created xsi:type="dcterms:W3CDTF">2026-09-22T17:40:18Z</dcterms:created>
  <dcterms:modified xsi:type="dcterms:W3CDTF">2026-09-22T17:40:18Z</dcterms:modified>
</cp:coreProperties>
</file>